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5E2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056000" cy="6858000"/>
          </a:xfrm>
          <a:prstGeom prst="rect">
            <a:avLst/>
          </a:prstGeom>
          <a:solidFill>
            <a:srgbClr val="5E2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3999" y="792000"/>
            <a:ext cx="63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07B39"/>
                </a:solidFill>
                <a:latin typeface="Calibri"/>
              </a:defRPr>
            </a:pPr>
            <a:r>
              <a:t>PORTOFOLIO ANALISIS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3999" y="1188000"/>
            <a:ext cx="6408000" cy="12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300" b="1">
                <a:solidFill>
                  <a:srgbClr val="FFFFFF"/>
                </a:solidFill>
                <a:latin typeface="Calibri"/>
              </a:defRPr>
            </a:pPr>
            <a:r>
              <a:t>Kemiskinan &amp;</a:t>
            </a:r>
          </a:p>
          <a:p>
            <a:pPr algn="l">
              <a:defRPr sz="4300" b="1">
                <a:solidFill>
                  <a:srgbClr val="FFFFFF"/>
                </a:solidFill>
                <a:latin typeface="Calibri"/>
              </a:defRPr>
            </a:pPr>
            <a:r>
              <a:t>Ketimpangan</a:t>
            </a:r>
          </a:p>
          <a:p>
            <a:pPr algn="l">
              <a:defRPr sz="4300" b="1">
                <a:solidFill>
                  <a:srgbClr val="FFFFFF"/>
                </a:solidFill>
                <a:latin typeface="Calibri"/>
              </a:defRPr>
            </a:pPr>
            <a:r>
              <a:t>Indonesia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3999" y="2988000"/>
            <a:ext cx="6192000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50" b="0">
                <a:solidFill>
                  <a:srgbClr val="EFE4D8"/>
                </a:solidFill>
                <a:latin typeface="Calibri"/>
              </a:defRPr>
            </a:pPr>
            <a:r>
              <a:t>Mengurai tujuh tahun perjalanan kemiskinan Indonesia — dari 9,41% sebelum pandemi, memuncak 10,19% di September 2020, hingga rekor terendah 8,07% pada Maret 2026 — lengkap dengan ketimpangan, kedalaman, dan peta provinsi.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3999" y="4392000"/>
            <a:ext cx="6048000" cy="2160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3999" y="4572000"/>
            <a:ext cx="63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8C6B4"/>
                </a:solidFill>
                <a:latin typeface="Calibri"/>
              </a:defRPr>
            </a:pPr>
            <a:r>
              <a:t>Sumber: BPS — Berita Resmi Statistik Profil Kemiskinan &amp; Gini Ratio</a:t>
            </a:r>
          </a:p>
          <a:p>
            <a:pPr algn="l">
              <a:defRPr sz="1300" b="0">
                <a:solidFill>
                  <a:srgbClr val="D8C6B4"/>
                </a:solidFill>
                <a:latin typeface="Calibri"/>
              </a:defRPr>
            </a:pPr>
            <a:r>
              <a:t>Periode: Maret &amp; September 2019 sampai Maret 2026 (14 periode)</a:t>
            </a:r>
          </a:p>
        </p:txBody>
      </p:sp>
      <p:sp>
        <p:nvSpPr>
          <p:cNvPr id="9" name="Rectangle 8"/>
          <p:cNvSpPr/>
          <p:nvPr/>
        </p:nvSpPr>
        <p:spPr>
          <a:xfrm>
            <a:off x="7416000" y="0"/>
            <a:ext cx="4777200" cy="6858000"/>
          </a:xfrm>
          <a:prstGeom prst="rect">
            <a:avLst/>
          </a:prstGeom>
          <a:solidFill>
            <a:srgbClr val="A6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48000" y="827999"/>
            <a:ext cx="39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6DDD5"/>
                </a:solidFill>
                <a:latin typeface="Calibri"/>
              </a:defRPr>
            </a:pPr>
            <a:r>
              <a:t>PENDUDUK MISKIN</a:t>
            </a:r>
          </a:p>
          <a:p>
            <a:pPr algn="l">
              <a:defRPr sz="1400" b="1">
                <a:solidFill>
                  <a:srgbClr val="F6DDD5"/>
                </a:solidFill>
                <a:latin typeface="Calibri"/>
              </a:defRPr>
            </a:pPr>
            <a:r>
              <a:t>MARET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48000" y="1655999"/>
            <a:ext cx="4104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FFFFF"/>
                </a:solidFill>
                <a:latin typeface="Calibri"/>
              </a:defRPr>
            </a:pPr>
            <a:r>
              <a:t>8,07%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48000" y="2556000"/>
            <a:ext cx="39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6DDD5"/>
                </a:solidFill>
                <a:latin typeface="Calibri"/>
              </a:defRPr>
            </a:pPr>
            <a:r>
              <a:t>22,93 juta jiwa — terendah dalam seri 2019–2026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48000" y="3096000"/>
            <a:ext cx="3600000" cy="18000"/>
          </a:xfrm>
          <a:prstGeom prst="rect">
            <a:avLst/>
          </a:prstGeom>
          <a:solidFill>
            <a:srgbClr val="D88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48000" y="3276000"/>
            <a:ext cx="3960000" cy="12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0">
                <a:solidFill>
                  <a:srgbClr val="FFFFFF"/>
                </a:solidFill>
                <a:latin typeface="Calibri"/>
              </a:defRPr>
            </a:pPr>
            <a:r>
              <a:t>Gini Ratio Maret 2026: 0,368</a:t>
            </a:r>
          </a:p>
          <a:p>
            <a:pPr algn="l">
              <a:defRPr sz="1450" b="0">
                <a:solidFill>
                  <a:srgbClr val="FFFFFF"/>
                </a:solidFill>
                <a:latin typeface="Calibri"/>
              </a:defRPr>
            </a:pPr>
            <a:r>
              <a:t>Garis kemiskinan: Rp669.235/kapita/bln</a:t>
            </a:r>
          </a:p>
          <a:p>
            <a:pPr algn="l">
              <a:defRPr sz="1450" b="0">
                <a:solidFill>
                  <a:srgbClr val="FFFFFF"/>
                </a:solidFill>
                <a:latin typeface="Calibri"/>
              </a:defRPr>
            </a:pPr>
            <a:r>
              <a:t>Provinsi tertinggi: Papua Tengah 30,41%</a:t>
            </a:r>
          </a:p>
          <a:p>
            <a:pPr algn="l">
              <a:defRPr sz="1450" b="0">
                <a:solidFill>
                  <a:srgbClr val="FFFFFF"/>
                </a:solidFill>
                <a:latin typeface="Calibri"/>
              </a:defRPr>
            </a:pPr>
            <a:r>
              <a:t>Provinsi terendah: Bali 3,44%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48000" y="5616000"/>
            <a:ext cx="39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BAGHIZ ASSHIDDIQIE ARASYA</a:t>
            </a:r>
          </a:p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Data Analyst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900000"/>
          </a:xfrm>
          <a:prstGeom prst="rect">
            <a:avLst/>
          </a:prstGeom>
          <a:solidFill>
            <a:srgbClr val="5E2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151200"/>
            <a:ext cx="1134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Calibri"/>
              </a:defRPr>
            </a:pPr>
            <a:r>
              <a:t>Potret Terbaru: Maret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511200"/>
            <a:ext cx="113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AD9C8"/>
                </a:solidFill>
                <a:latin typeface="Calibri"/>
              </a:defRPr>
            </a:pPr>
            <a:r>
              <a:t>Empat angka kunci dari BRS Profil Kemiskinan Maret 2026 (rilis 5 Agustus 2026)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1224000"/>
            <a:ext cx="2700000" cy="111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FE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2000" y="1224000"/>
            <a:ext cx="2700000" cy="64800"/>
          </a:xfrm>
          <a:prstGeom prst="rect">
            <a:avLst/>
          </a:prstGeom>
          <a:solidFill>
            <a:srgbClr val="A6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7999" y="1339200"/>
            <a:ext cx="244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6E6258"/>
                </a:solidFill>
                <a:latin typeface="Calibri"/>
              </a:defRPr>
            </a:pPr>
            <a:r>
              <a:t>PERSENTASE PENDUDUK MISKIN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999" y="1565999"/>
            <a:ext cx="244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A63D40"/>
                </a:solidFill>
                <a:latin typeface="Calibri"/>
              </a:defRPr>
            </a:pPr>
            <a:r>
              <a:t>8,07%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999" y="1961999"/>
            <a:ext cx="244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E2A26"/>
                </a:solidFill>
                <a:latin typeface="Calibri"/>
              </a:defRPr>
            </a:pPr>
            <a:r>
              <a:t>Turun 1,34 poin dari Mar 2019 (9,41%)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48000" y="1224000"/>
            <a:ext cx="2700000" cy="111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FE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48000" y="1224000"/>
            <a:ext cx="2700000" cy="64800"/>
          </a:xfrm>
          <a:prstGeom prst="rect">
            <a:avLst/>
          </a:prstGeom>
          <a:solidFill>
            <a:srgbClr val="A6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000" y="1339200"/>
            <a:ext cx="244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6E6258"/>
                </a:solidFill>
                <a:latin typeface="Calibri"/>
              </a:defRPr>
            </a:pPr>
            <a:r>
              <a:t>JUMLAH PENDUDUK MISKIN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000" y="1565999"/>
            <a:ext cx="244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A63D40"/>
                </a:solidFill>
                <a:latin typeface="Calibri"/>
              </a:defRPr>
            </a:pPr>
            <a:r>
              <a:t>22,93 jt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000" y="1961999"/>
            <a:ext cx="244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E2A26"/>
                </a:solidFill>
                <a:latin typeface="Calibri"/>
              </a:defRPr>
            </a:pPr>
            <a:r>
              <a:t>2,21 juta lebih sedikit dari Mar 2019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999" y="1224000"/>
            <a:ext cx="2700000" cy="111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FE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999" y="1224000"/>
            <a:ext cx="2700000" cy="64800"/>
          </a:xfrm>
          <a:prstGeom prst="rect">
            <a:avLst/>
          </a:prstGeom>
          <a:solidFill>
            <a:srgbClr val="A6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90000" y="1339200"/>
            <a:ext cx="244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6E6258"/>
                </a:solidFill>
                <a:latin typeface="Calibri"/>
              </a:defRPr>
            </a:pPr>
            <a:r>
              <a:t>GARIS KEMISKINAN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0000" y="1565999"/>
            <a:ext cx="244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A63D40"/>
                </a:solidFill>
                <a:latin typeface="Calibri"/>
              </a:defRPr>
            </a:pPr>
            <a:r>
              <a:t>Rp669.235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0000" y="1961999"/>
            <a:ext cx="244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E2A26"/>
                </a:solidFill>
                <a:latin typeface="Calibri"/>
              </a:defRPr>
            </a:pPr>
            <a:r>
              <a:t>Per kapita/bulan; 74,7% makanan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80000" y="1224000"/>
            <a:ext cx="2592000" cy="111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FE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80000" y="1224000"/>
            <a:ext cx="2592000" cy="64800"/>
          </a:xfrm>
          <a:prstGeom prst="rect">
            <a:avLst/>
          </a:prstGeom>
          <a:solidFill>
            <a:srgbClr val="A6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06000" y="1339200"/>
            <a:ext cx="23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6E6258"/>
                </a:solidFill>
                <a:latin typeface="Calibri"/>
              </a:defRPr>
            </a:pPr>
            <a:r>
              <a:t>GINI RATIO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06000" y="1565999"/>
            <a:ext cx="23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A63D40"/>
                </a:solidFill>
                <a:latin typeface="Calibri"/>
              </a:defRPr>
            </a:pPr>
            <a:r>
              <a:t>0,368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06000" y="1961999"/>
            <a:ext cx="234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E2A26"/>
                </a:solidFill>
                <a:latin typeface="Calibri"/>
              </a:defRPr>
            </a:pPr>
            <a:r>
              <a:t>Kota 0,387 • Desa 0,296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2000" y="2736000"/>
            <a:ext cx="1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50" b="1">
                <a:solidFill>
                  <a:srgbClr val="A63D40"/>
                </a:solidFill>
                <a:latin typeface="Calibri"/>
              </a:defRPr>
            </a:pPr>
            <a:r>
              <a:t>▪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999" y="2736000"/>
            <a:ext cx="11087999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50" b="1">
                <a:solidFill>
                  <a:srgbClr val="5E262B"/>
                </a:solidFill>
                <a:latin typeface="Calibri"/>
              </a:defRPr>
            </a:pPr>
            <a:r>
              <a:t>Titik terendah dalam tujuh tahun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7999" y="3016799"/>
            <a:ext cx="11087999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E2A26"/>
                </a:solidFill>
                <a:latin typeface="Calibri"/>
              </a:defRPr>
            </a:pPr>
            <a:r>
              <a:t>Baik persentase (8,07%) maupun jumlah (22,93 juta) pada Maret 2026 adalah yang terendah di seluruh seri Maret &amp; September 2019–2026.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2000" y="3761999"/>
            <a:ext cx="1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50" b="1">
                <a:solidFill>
                  <a:srgbClr val="A63D40"/>
                </a:solidFill>
                <a:latin typeface="Calibri"/>
              </a:defRPr>
            </a:pPr>
            <a:r>
              <a:t>▪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7999" y="3761999"/>
            <a:ext cx="11087999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50" b="1">
                <a:solidFill>
                  <a:srgbClr val="5E262B"/>
                </a:solidFill>
                <a:latin typeface="Calibri"/>
              </a:defRPr>
            </a:pPr>
            <a:r>
              <a:t>Kemiskinan desa tetap hampir dua kali kota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7999" y="4042799"/>
            <a:ext cx="11087999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E2A26"/>
                </a:solidFill>
                <a:latin typeface="Calibri"/>
              </a:defRPr>
            </a:pPr>
            <a:r>
              <a:t>Perdesaan 10,67% berbanding perkotaan 6,34% pada Maret 2026, tetapi kesenjangannya menyempit dari 6,16 poin (Mar 2019) menjadi 4,33 poin.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2000" y="4788000"/>
            <a:ext cx="1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50" b="1">
                <a:solidFill>
                  <a:srgbClr val="A63D40"/>
                </a:solidFill>
                <a:latin typeface="Calibri"/>
              </a:defRPr>
            </a:pPr>
            <a:r>
              <a:t>▪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7999" y="4788000"/>
            <a:ext cx="11087999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50" b="1">
                <a:solidFill>
                  <a:srgbClr val="5E262B"/>
                </a:solidFill>
                <a:latin typeface="Calibri"/>
              </a:defRPr>
            </a:pPr>
            <a:r>
              <a:t>Satu semester yang janggal untuk dibaca bersama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7999" y="5068799"/>
            <a:ext cx="11087999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E2A26"/>
                </a:solidFill>
                <a:latin typeface="Calibri"/>
              </a:defRPr>
            </a:pPr>
            <a:r>
              <a:t>Maret 2026 kemiskinan turun ke rekor terendah, tetapi Gini justru naik dari titik terendahnya di September 2025 (0,363 ke 0,368) dan indeks kedalaman perdesaan memburuk. Detailnya di slide 7 dan 8.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64000" y="6606000"/>
            <a:ext cx="122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E6258"/>
                </a:solidFill>
                <a:latin typeface="Calibri"/>
              </a:defRPr>
            </a:pPr>
            <a:r>
              <a:t>2 / 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2000" y="6606000"/>
            <a:ext cx="43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6258"/>
                </a:solidFill>
                <a:latin typeface="Calibri"/>
              </a:defRPr>
            </a:pPr>
            <a:r>
              <a:t>Kemiskinan &amp; Ketimpangan Indonesia 2026 • Data BPS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900000"/>
          </a:xfrm>
          <a:prstGeom prst="rect">
            <a:avLst/>
          </a:prstGeom>
          <a:solidFill>
            <a:srgbClr val="5E2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151200"/>
            <a:ext cx="1134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Calibri"/>
              </a:defRPr>
            </a:pPr>
            <a:r>
              <a:t>Tujuh Tahun: Lonjakan Pandemi, Lalu Turun Konsisten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511200"/>
            <a:ext cx="113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AD9C8"/>
                </a:solidFill>
                <a:latin typeface="Calibri"/>
              </a:defRPr>
            </a:pPr>
            <a:r>
              <a:t>Persentase dan jumlah penduduk miskin, Maret &amp; September 2019–2026</a:t>
            </a:r>
          </a:p>
        </p:txBody>
      </p:sp>
      <p:pic>
        <p:nvPicPr>
          <p:cNvPr id="6" name="Picture 5" descr="01_tren_nasio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1116000"/>
            <a:ext cx="7056000" cy="334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6000" y="1224000"/>
            <a:ext cx="1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A63D40"/>
                </a:solidFill>
                <a:latin typeface="Calibri"/>
              </a:defRPr>
            </a:pPr>
            <a:r>
              <a:t>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0" y="1224000"/>
            <a:ext cx="374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5E262B"/>
                </a:solidFill>
                <a:latin typeface="Calibri"/>
              </a:defRPr>
            </a:pPr>
            <a:r>
              <a:t>Puncak pandemi: Sep 2020, 10,19%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92000" y="1504800"/>
            <a:ext cx="3744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E2A26"/>
                </a:solidFill>
                <a:latin typeface="Calibri"/>
              </a:defRPr>
            </a:pPr>
            <a:r>
              <a:t>27,55 juta penduduk miskin — bertambah 2,41 juta jiwa hanya dalam tujuh bulan pertama pandemi (Mar–Sep 2020).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6000" y="2051999"/>
            <a:ext cx="1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A63D40"/>
                </a:solidFill>
                <a:latin typeface="Calibri"/>
              </a:defRPr>
            </a:pPr>
            <a:r>
              <a:t>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92000" y="2051999"/>
            <a:ext cx="374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5E262B"/>
                </a:solidFill>
                <a:latin typeface="Calibri"/>
              </a:defRPr>
            </a:pPr>
            <a:r>
              <a:t>Kembali di bawah prapandemi: Mar 2023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92000" y="2332800"/>
            <a:ext cx="3744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E2A26"/>
                </a:solidFill>
                <a:latin typeface="Calibri"/>
              </a:defRPr>
            </a:pPr>
            <a:r>
              <a:t>Butuh 2,5 tahun sejak puncak hingga persentase menembus ke bawah 9,41% (Mar 2019), yaitu 9,36% pada Maret 2023.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6000" y="2879999"/>
            <a:ext cx="1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A63D40"/>
                </a:solidFill>
                <a:latin typeface="Calibri"/>
              </a:defRPr>
            </a:pPr>
            <a: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92000" y="2879999"/>
            <a:ext cx="374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5E262B"/>
                </a:solidFill>
                <a:latin typeface="Calibri"/>
              </a:defRPr>
            </a:pPr>
            <a:r>
              <a:t>Setelah itu turun nyaris tanpa jeda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92000" y="3160800"/>
            <a:ext cx="3744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E2A26"/>
                </a:solidFill>
                <a:latin typeface="Calibri"/>
              </a:defRPr>
            </a:pPr>
            <a:r>
              <a:t>Dari 9,36% (Mar 2023) ke 8,07% (Mar 2026). Catatan: tidak ada periode September 2023 karena BPS tidak menerbitkannya — bukan data hilang.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64000" y="6606000"/>
            <a:ext cx="122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E6258"/>
                </a:solidFill>
                <a:latin typeface="Calibri"/>
              </a:defRPr>
            </a:pPr>
            <a:r>
              <a:t>3 / 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2000" y="6606000"/>
            <a:ext cx="43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6258"/>
                </a:solidFill>
                <a:latin typeface="Calibri"/>
              </a:defRPr>
            </a:pPr>
            <a:r>
              <a:t>Kemiskinan &amp; Ketimpangan Indonesia 2026 • Data BPS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900000"/>
          </a:xfrm>
          <a:prstGeom prst="rect">
            <a:avLst/>
          </a:prstGeom>
          <a:solidFill>
            <a:srgbClr val="5E2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151200"/>
            <a:ext cx="1134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Calibri"/>
              </a:defRPr>
            </a:pPr>
            <a:r>
              <a:t>Garis Kemiskinan Naik 57,4% dalam 7 Tahun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511200"/>
            <a:ext cx="113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AD9C8"/>
                </a:solidFill>
                <a:latin typeface="Calibri"/>
              </a:defRPr>
            </a:pPr>
            <a:r>
              <a:t>Ambang pengeluaran minimum ikut bergerak — dan makanan mendominasi</a:t>
            </a:r>
          </a:p>
        </p:txBody>
      </p:sp>
      <p:pic>
        <p:nvPicPr>
          <p:cNvPr id="6" name="Picture 5" descr="03_garis_kemiskin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1116000"/>
            <a:ext cx="7056000" cy="32140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6000" y="1224000"/>
            <a:ext cx="1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A63D40"/>
                </a:solidFill>
                <a:latin typeface="Calibri"/>
              </a:defRPr>
            </a:pPr>
            <a:r>
              <a:t>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0" y="1224000"/>
            <a:ext cx="374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5E262B"/>
                </a:solidFill>
                <a:latin typeface="Calibri"/>
              </a:defRPr>
            </a:pPr>
            <a:r>
              <a:t>Rp425.250 menjadi Rp669.235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92000" y="1504800"/>
            <a:ext cx="3744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E2A26"/>
                </a:solidFill>
                <a:latin typeface="Calibri"/>
              </a:defRPr>
            </a:pPr>
            <a:r>
              <a:t>Kenaikan 57,4% dari Mar 2019 ke Mar 2026, setara pertumbuhan majemuk sekitar 6,7% per tahun — garis kemiskinan pada dasarnya mengikuti harga kebutuhan pokok.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6000" y="2250000"/>
            <a:ext cx="1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A63D40"/>
                </a:solidFill>
                <a:latin typeface="Calibri"/>
              </a:defRPr>
            </a:pPr>
            <a:r>
              <a:t>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92000" y="2250000"/>
            <a:ext cx="374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5E262B"/>
                </a:solidFill>
                <a:latin typeface="Calibri"/>
              </a:defRPr>
            </a:pPr>
            <a:r>
              <a:t>74,7% adalah makanan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92000" y="2530800"/>
            <a:ext cx="3744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E2A26"/>
                </a:solidFill>
                <a:latin typeface="Calibri"/>
              </a:defRPr>
            </a:pPr>
            <a:r>
              <a:t>Pangsa komoditas makanan dalam garis kemiskinan Maret 2026 sebesar 74,70%; penyumbang terbesarnya beras, disusul rokok kretek filter.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6000" y="3276000"/>
            <a:ext cx="1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A63D40"/>
                </a:solidFill>
                <a:latin typeface="Calibri"/>
              </a:defRPr>
            </a:pPr>
            <a: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92000" y="3276000"/>
            <a:ext cx="374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5E262B"/>
                </a:solidFill>
                <a:latin typeface="Calibri"/>
              </a:defRPr>
            </a:pPr>
            <a:r>
              <a:t>Artinya untuk membaca tren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92000" y="3556799"/>
            <a:ext cx="3744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E2A26"/>
                </a:solidFill>
                <a:latin typeface="Calibri"/>
              </a:defRPr>
            </a:pPr>
            <a:r>
              <a:t>Penduduk miskin berkurang bukan karena ambangnya diturunkan — ambangnya justru naik tajam, sehingga penurunan ini mencerminkan pengeluaran nyata yang membaik, bukan definisi yang melonggar.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64000" y="6606000"/>
            <a:ext cx="122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E6258"/>
                </a:solidFill>
                <a:latin typeface="Calibri"/>
              </a:defRPr>
            </a:pPr>
            <a:r>
              <a:t>4 / 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2000" y="6606000"/>
            <a:ext cx="43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6258"/>
                </a:solidFill>
                <a:latin typeface="Calibri"/>
              </a:defRPr>
            </a:pPr>
            <a:r>
              <a:t>Kemiskinan &amp; Ketimpangan Indonesia 2026 • Data BPS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900000"/>
          </a:xfrm>
          <a:prstGeom prst="rect">
            <a:avLst/>
          </a:prstGeom>
          <a:solidFill>
            <a:srgbClr val="5E2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151200"/>
            <a:ext cx="1134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Calibri"/>
              </a:defRPr>
            </a:pPr>
            <a:r>
              <a:t>Kota vs Desa: Kesenjangan Menyempit, Belum Hilang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511200"/>
            <a:ext cx="113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AD9C8"/>
                </a:solidFill>
                <a:latin typeface="Calibri"/>
              </a:defRPr>
            </a:pPr>
            <a:r>
              <a:t>Persentase penduduk miskin menurut daerah, 2019–2026</a:t>
            </a:r>
          </a:p>
        </p:txBody>
      </p:sp>
      <p:pic>
        <p:nvPicPr>
          <p:cNvPr id="6" name="Picture 5" descr="04_kota_des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1116000"/>
            <a:ext cx="7056000" cy="321577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6000" y="1224000"/>
            <a:ext cx="1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A63D40"/>
                </a:solidFill>
                <a:latin typeface="Calibri"/>
              </a:defRPr>
            </a:pPr>
            <a:r>
              <a:t>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0" y="1224000"/>
            <a:ext cx="374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5E262B"/>
                </a:solidFill>
                <a:latin typeface="Calibri"/>
              </a:defRPr>
            </a:pPr>
            <a:r>
              <a:t>Desa selalu sekitar dua kali kota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92000" y="1504800"/>
            <a:ext cx="3744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E2A26"/>
                </a:solidFill>
                <a:latin typeface="Calibri"/>
              </a:defRPr>
            </a:pPr>
            <a:r>
              <a:t>Rasio perdesaan terhadap perkotaan turun dari 1,92× (Mar 2019) menjadi 1,68× (Mar 2026) — tetap besar, tetapi terus mengecil.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6000" y="2250000"/>
            <a:ext cx="1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A63D40"/>
                </a:solidFill>
                <a:latin typeface="Calibri"/>
              </a:defRPr>
            </a:pPr>
            <a:r>
              <a:t>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92000" y="2250000"/>
            <a:ext cx="374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5E262B"/>
                </a:solidFill>
                <a:latin typeface="Calibri"/>
              </a:defRPr>
            </a:pPr>
            <a:r>
              <a:t>Namun jumlahnya terbagi nyaris rata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92000" y="2530800"/>
            <a:ext cx="3744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E2A26"/>
                </a:solidFill>
                <a:latin typeface="Calibri"/>
              </a:defRPr>
            </a:pPr>
            <a:r>
              <a:t>Maret 2026: 12,10 juta penduduk miskin di desa dan 10,83 juta di kota. Kemiskinan kota bukan isu kecil — hanya persentasenya yang lebih rendah karena penduduk kota jauh lebih banyak.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6000" y="3276000"/>
            <a:ext cx="1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A63D40"/>
                </a:solidFill>
                <a:latin typeface="Calibri"/>
              </a:defRPr>
            </a:pPr>
            <a: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92000" y="3276000"/>
            <a:ext cx="374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5E262B"/>
                </a:solidFill>
                <a:latin typeface="Calibri"/>
              </a:defRPr>
            </a:pPr>
            <a:r>
              <a:t>Gap menyempit 1,83 poin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92000" y="3556799"/>
            <a:ext cx="3744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E2A26"/>
                </a:solidFill>
                <a:latin typeface="Calibri"/>
              </a:defRPr>
            </a:pPr>
            <a:r>
              <a:t>Selisih desa minus kota menyusut dari 6,16 poin (Mar 2019) ke 4,33 poin (Mar 2026), penyempitan paling konsisten di seluruh seri.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64000" y="6606000"/>
            <a:ext cx="122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E6258"/>
                </a:solidFill>
                <a:latin typeface="Calibri"/>
              </a:defRPr>
            </a:pPr>
            <a:r>
              <a:t>5 / 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2000" y="6606000"/>
            <a:ext cx="43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6258"/>
                </a:solidFill>
                <a:latin typeface="Calibri"/>
              </a:defRPr>
            </a:pPr>
            <a:r>
              <a:t>Kemiskinan &amp; Ketimpangan Indonesia 2026 • Data BPS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900000"/>
          </a:xfrm>
          <a:prstGeom prst="rect">
            <a:avLst/>
          </a:prstGeom>
          <a:solidFill>
            <a:srgbClr val="5E2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151200"/>
            <a:ext cx="1134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Calibri"/>
              </a:defRPr>
            </a:pPr>
            <a:r>
              <a:t>Ketimpangan: Menyempit Perlahan, Sempat Berbalik Arah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511200"/>
            <a:ext cx="113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AD9C8"/>
                </a:solidFill>
                <a:latin typeface="Calibri"/>
              </a:defRPr>
            </a:pPr>
            <a:r>
              <a:t>Gini Ratio pengeluaran, Maret &amp; September 2019–2026</a:t>
            </a:r>
          </a:p>
        </p:txBody>
      </p:sp>
      <p:pic>
        <p:nvPicPr>
          <p:cNvPr id="6" name="Picture 5" descr="06_gin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1116000"/>
            <a:ext cx="7056000" cy="321066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6000" y="1224000"/>
            <a:ext cx="1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A63D40"/>
                </a:solidFill>
                <a:latin typeface="Calibri"/>
              </a:defRPr>
            </a:pPr>
            <a:r>
              <a:t>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0" y="1224000"/>
            <a:ext cx="374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5E262B"/>
                </a:solidFill>
                <a:latin typeface="Calibri"/>
              </a:defRPr>
            </a:pPr>
            <a:r>
              <a:t>0,382 menjadi 0,368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92000" y="1504800"/>
            <a:ext cx="3744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E2A26"/>
                </a:solidFill>
                <a:latin typeface="Calibri"/>
              </a:defRPr>
            </a:pPr>
            <a:r>
              <a:t>Selama tujuh tahun Gini turun 0,014 poin — menyempit, tetapi sangat perlahan, dengan puncak ketimpangan di Maret 2023 (0,388).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6000" y="2250000"/>
            <a:ext cx="1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A63D40"/>
                </a:solidFill>
                <a:latin typeface="Calibri"/>
              </a:defRPr>
            </a:pPr>
            <a:r>
              <a:t>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92000" y="2250000"/>
            <a:ext cx="374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5E262B"/>
                </a:solidFill>
                <a:latin typeface="Calibri"/>
              </a:defRPr>
            </a:pPr>
            <a:r>
              <a:t>Kota jauh lebih timpang dari desa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92000" y="2530800"/>
            <a:ext cx="3744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E2A26"/>
                </a:solidFill>
                <a:latin typeface="Calibri"/>
              </a:defRPr>
            </a:pPr>
            <a:r>
              <a:t>Maret 2026: Gini perkotaan 0,387 berbanding perdesaan 0,296. Kesenjangan pengeluaran adalah fenomena perkotaan.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6000" y="3077999"/>
            <a:ext cx="1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A63D40"/>
                </a:solidFill>
                <a:latin typeface="Calibri"/>
              </a:defRPr>
            </a:pPr>
            <a: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92000" y="3077999"/>
            <a:ext cx="374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5E262B"/>
                </a:solidFill>
                <a:latin typeface="Calibri"/>
              </a:defRPr>
            </a:pPr>
            <a:r>
              <a:t>Sinyal waspada Maret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92000" y="3358799"/>
            <a:ext cx="3744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E2A26"/>
                </a:solidFill>
                <a:latin typeface="Calibri"/>
              </a:defRPr>
            </a:pPr>
            <a:r>
              <a:t>Gini naik dari 0,363 (Sep 2025, terendah) ke 0,368 di saat kemiskinan mencapai rekor terendah — hasil pertumbuhan semester itu dinikmati lebih banyak oleh kelompok atas. Pangsa pengeluaran 40% terbawah: 19,22%.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64000" y="6606000"/>
            <a:ext cx="122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E6258"/>
                </a:solidFill>
                <a:latin typeface="Calibri"/>
              </a:defRPr>
            </a:pPr>
            <a:r>
              <a:t>6 / 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2000" y="6606000"/>
            <a:ext cx="43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6258"/>
                </a:solidFill>
                <a:latin typeface="Calibri"/>
              </a:defRPr>
            </a:pPr>
            <a:r>
              <a:t>Kemiskinan &amp; Ketimpangan Indonesia 2026 • Data BPS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900000"/>
          </a:xfrm>
          <a:prstGeom prst="rect">
            <a:avLst/>
          </a:prstGeom>
          <a:solidFill>
            <a:srgbClr val="5E2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151200"/>
            <a:ext cx="1134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Calibri"/>
              </a:defRPr>
            </a:pPr>
            <a:r>
              <a:t>Bukan Hanya Lebih Sedikit — Kemiskinannya Juga Lebih Dangkal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511200"/>
            <a:ext cx="113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AD9C8"/>
                </a:solidFill>
                <a:latin typeface="Calibri"/>
              </a:defRPr>
            </a:pPr>
            <a:r>
              <a:t>Indeks kedalaman (P1) dan keparahan (P2), Maret 2020–2026</a:t>
            </a:r>
          </a:p>
        </p:txBody>
      </p:sp>
      <p:pic>
        <p:nvPicPr>
          <p:cNvPr id="6" name="Picture 5" descr="10_p1_p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1116000"/>
            <a:ext cx="7056000" cy="320523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6000" y="1224000"/>
            <a:ext cx="1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A63D40"/>
                </a:solidFill>
                <a:latin typeface="Calibri"/>
              </a:defRPr>
            </a:pPr>
            <a:r>
              <a:t>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0" y="1224000"/>
            <a:ext cx="374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5E262B"/>
                </a:solidFill>
                <a:latin typeface="Calibri"/>
              </a:defRPr>
            </a:pPr>
            <a:r>
              <a:t>P1 turun 27,5% dari puncak pandemi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92000" y="1504800"/>
            <a:ext cx="3744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E2A26"/>
                </a:solidFill>
                <a:latin typeface="Calibri"/>
              </a:defRPr>
            </a:pPr>
            <a:r>
              <a:t>Indeks kedalaman turun dari 1,75 (Sep 2020) ke 1,268 (Mar 2026): rata-rata pengeluaran penduduk miskin makin dekat ke garis kemiskinan.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6000" y="2250000"/>
            <a:ext cx="1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A63D40"/>
                </a:solidFill>
                <a:latin typeface="Calibri"/>
              </a:defRPr>
            </a:pPr>
            <a:r>
              <a:t>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92000" y="2250000"/>
            <a:ext cx="374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5E262B"/>
                </a:solidFill>
                <a:latin typeface="Calibri"/>
              </a:defRPr>
            </a:pPr>
            <a:r>
              <a:t>P2 juga membaik: 0,47 menjadi 0,291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92000" y="2530800"/>
            <a:ext cx="3744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E2A26"/>
                </a:solidFill>
                <a:latin typeface="Calibri"/>
              </a:defRPr>
            </a:pPr>
            <a:r>
              <a:t>Ketimpangan di antara sesama penduduk miskin menyusut — kelompok paling miskin tidak tertinggal sejauh saat pandemi.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6000" y="3077999"/>
            <a:ext cx="1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A63D40"/>
                </a:solidFill>
                <a:latin typeface="Calibri"/>
              </a:defRPr>
            </a:pPr>
            <a: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92000" y="3077999"/>
            <a:ext cx="374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5E262B"/>
                </a:solidFill>
                <a:latin typeface="Calibri"/>
              </a:defRPr>
            </a:pPr>
            <a:r>
              <a:t>Tapi desa memberi sinyal berlawanan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92000" y="3358799"/>
            <a:ext cx="3744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E2A26"/>
                </a:solidFill>
                <a:latin typeface="Calibri"/>
              </a:defRPr>
            </a:pPr>
            <a:r>
              <a:t>Semester terakhir (Sep 2025 ke Mar 2026) P1 perdesaan naik dari 1,661 ke 1,744 saat P1 kota turun. Penduduk miskin desa yang tersisa justru makin jauh di bawah garis — sasaran bantuan perlu dibaca per wilayah.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64000" y="6606000"/>
            <a:ext cx="122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E6258"/>
                </a:solidFill>
                <a:latin typeface="Calibri"/>
              </a:defRPr>
            </a:pPr>
            <a:r>
              <a:t>7 / 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2000" y="6606000"/>
            <a:ext cx="43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6258"/>
                </a:solidFill>
                <a:latin typeface="Calibri"/>
              </a:defRPr>
            </a:pPr>
            <a:r>
              <a:t>Kemiskinan &amp; Ketimpangan Indonesia 2026 • Data BPS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900000"/>
          </a:xfrm>
          <a:prstGeom prst="rect">
            <a:avLst/>
          </a:prstGeom>
          <a:solidFill>
            <a:srgbClr val="5E2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151200"/>
            <a:ext cx="1134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Calibri"/>
              </a:defRPr>
            </a:pPr>
            <a:r>
              <a:t>Peta Provinsi: Jurang 27 Poin Persen di Satu Negara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511200"/>
            <a:ext cx="113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AD9C8"/>
                </a:solidFill>
                <a:latin typeface="Calibri"/>
              </a:defRPr>
            </a:pPr>
            <a:r>
              <a:t>Persentase penduduk miskin per provinsi, Maret 2026</a:t>
            </a:r>
          </a:p>
        </p:txBody>
      </p:sp>
      <p:pic>
        <p:nvPicPr>
          <p:cNvPr id="6" name="Picture 5" descr="07_provinsi_mar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1044000"/>
            <a:ext cx="4620759" cy="561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256000" y="1152000"/>
            <a:ext cx="1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A63D40"/>
                </a:solidFill>
                <a:latin typeface="Calibri"/>
              </a:defRPr>
            </a:pPr>
            <a:r>
              <a:t>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72000" y="1152000"/>
            <a:ext cx="6263999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5E262B"/>
                </a:solidFill>
                <a:latin typeface="Calibri"/>
              </a:defRPr>
            </a:pPr>
            <a:r>
              <a:t>Papua Tengah tertinggi: 30,41%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72000" y="1432800"/>
            <a:ext cx="6263999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E2A26"/>
                </a:solidFill>
                <a:latin typeface="Calibri"/>
              </a:defRPr>
            </a:pPr>
            <a:r>
              <a:t>Disusul Papua Pegunungan 26,34%. Enam provinsi kawasan Papua semuanya di atas 16% — klaster kemiskinan tertinggi Indonesia ada di timur.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56000" y="2178000"/>
            <a:ext cx="1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A63D40"/>
                </a:solidFill>
                <a:latin typeface="Calibri"/>
              </a:defRPr>
            </a:pPr>
            <a:r>
              <a:t>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72000" y="2178000"/>
            <a:ext cx="6263999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5E262B"/>
                </a:solidFill>
                <a:latin typeface="Calibri"/>
              </a:defRPr>
            </a:pPr>
            <a:r>
              <a:t>Bali terendah: 3,44%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72000" y="2458800"/>
            <a:ext cx="6263999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E2A26"/>
                </a:solidFill>
                <a:latin typeface="Calibri"/>
              </a:defRPr>
            </a:pPr>
            <a:r>
              <a:t>Jurang tertinggi–terendah mencapai 26,97 poin persen atau 8,8 kali lipat. Sebanyak 20 dari 38 provinsi masih di atas rata-rata nasional 8,07%.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56000" y="3204000"/>
            <a:ext cx="1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A63D40"/>
                </a:solidFill>
                <a:latin typeface="Calibri"/>
              </a:defRPr>
            </a:pPr>
            <a: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72000" y="3204000"/>
            <a:ext cx="6263999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5E262B"/>
                </a:solidFill>
                <a:latin typeface="Calibri"/>
              </a:defRPr>
            </a:pPr>
            <a:r>
              <a:t>Persentase kecil, jumlah raksasa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72000" y="3484800"/>
            <a:ext cx="6263999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E2A26"/>
                </a:solidFill>
                <a:latin typeface="Calibri"/>
              </a:defRPr>
            </a:pPr>
            <a:r>
              <a:t>Jawa Timur hanya 9,06% tetapi penduduk miskinnya terbanyak: 3,71 juta. Total 52,4% penduduk miskin Indonesia tinggal di Pulau Jawa — intervensi berskala nasional tidak bisa mengabaikan Jawa.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6000" y="4428000"/>
            <a:ext cx="1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A63D40"/>
                </a:solidFill>
                <a:latin typeface="Calibri"/>
              </a:defRPr>
            </a:pPr>
            <a:r>
              <a:t>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72000" y="4428000"/>
            <a:ext cx="6263999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5E262B"/>
                </a:solidFill>
                <a:latin typeface="Calibri"/>
              </a:defRPr>
            </a:pPr>
            <a:r>
              <a:t>Perubahan 2019 ke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72000" y="4708799"/>
            <a:ext cx="6263999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E2A26"/>
                </a:solidFill>
                <a:latin typeface="Calibri"/>
              </a:defRPr>
            </a:pPr>
            <a:r>
              <a:t>Dari 32 provinsi yang wilayahnya sebanding, 28 membaik. Perbaikan terbesar: NTT (turun 3,57 poin). Empat yang justru naik: DKI Jakarta (+0,49), Banten (+0,29), Kepulauan Bangka Belitung (+0,13), dan Kalimantan Tengah (+0,11).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64000" y="6606000"/>
            <a:ext cx="122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E6258"/>
                </a:solidFill>
                <a:latin typeface="Calibri"/>
              </a:defRPr>
            </a:pPr>
            <a:r>
              <a:t>8 / 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2000" y="6606000"/>
            <a:ext cx="43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6258"/>
                </a:solidFill>
                <a:latin typeface="Calibri"/>
              </a:defRPr>
            </a:pPr>
            <a:r>
              <a:t>Kemiskinan &amp; Ketimpangan Indonesia 2026 • Data BPS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900000"/>
          </a:xfrm>
          <a:prstGeom prst="rect">
            <a:avLst/>
          </a:prstGeom>
          <a:solidFill>
            <a:srgbClr val="5E2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151200"/>
            <a:ext cx="1134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Calibri"/>
              </a:defRPr>
            </a:pPr>
            <a:r>
              <a:t>Dashboard Power BI — Kemiskinan-Indonesia-2026.pbix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511200"/>
            <a:ext cx="113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AD9C8"/>
                </a:solidFill>
                <a:latin typeface="Calibri"/>
              </a:defRPr>
            </a:pPr>
            <a:r>
              <a:t>Kit siap rakit di folder powerbi/ — model bintang, 17 measure DAX, 4 halaman</a:t>
            </a:r>
          </a:p>
        </p:txBody>
      </p:sp>
      <p:pic>
        <p:nvPicPr>
          <p:cNvPr id="6" name="Picture 5" descr="dashboard_preview_halaman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1080000"/>
            <a:ext cx="6983999" cy="392849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03999" y="1116000"/>
            <a:ext cx="1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63D40"/>
                </a:solidFill>
                <a:latin typeface="Calibri"/>
              </a:defRPr>
            </a:pPr>
            <a:r>
              <a:t>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0000" y="1116000"/>
            <a:ext cx="3816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E262B"/>
                </a:solidFill>
                <a:latin typeface="Calibri"/>
              </a:defRPr>
            </a:pPr>
            <a:r>
              <a:t>Halaman 1 — Ringkasan Nasional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0000" y="1396800"/>
            <a:ext cx="3816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E2A26"/>
                </a:solidFill>
                <a:latin typeface="Calibri"/>
              </a:defRPr>
            </a:pPr>
            <a:r>
              <a:t>Empat kartu KPI Maret 2026, tren persentase &amp; jumlah per periode, slicer periode.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03999" y="1943999"/>
            <a:ext cx="1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63D40"/>
                </a:solidFill>
                <a:latin typeface="Calibri"/>
              </a:defRPr>
            </a:pPr>
            <a:r>
              <a:t>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0000" y="1943999"/>
            <a:ext cx="3816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E262B"/>
                </a:solidFill>
                <a:latin typeface="Calibri"/>
              </a:defRPr>
            </a:pPr>
            <a:r>
              <a:t>Halaman 2 — Kota vs Desa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20000" y="2224800"/>
            <a:ext cx="3816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E2A26"/>
                </a:solidFill>
                <a:latin typeface="Calibri"/>
              </a:defRPr>
            </a:pPr>
            <a:r>
              <a:t>Garis ganda kota/desa, P1 &amp; P2 per daerah, kartu selisih 4,33 poin.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03999" y="2771999"/>
            <a:ext cx="1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63D40"/>
                </a:solidFill>
                <a:latin typeface="Calibri"/>
              </a:defRPr>
            </a:pPr>
            <a: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20000" y="2771999"/>
            <a:ext cx="3816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E262B"/>
                </a:solidFill>
                <a:latin typeface="Calibri"/>
              </a:defRPr>
            </a:pPr>
            <a:r>
              <a:t>Halaman 3 — Provinsi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20000" y="3052799"/>
            <a:ext cx="3816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E2A26"/>
                </a:solidFill>
                <a:latin typeface="Calibri"/>
              </a:defRPr>
            </a:pPr>
            <a:r>
              <a:t>Bar terurut 38 provinsi, jumlah per provinsi, tabel rinci termasuk garis kemiskinan provinsi Maret 2026.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03999" y="3599999"/>
            <a:ext cx="1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63D40"/>
                </a:solidFill>
                <a:latin typeface="Calibri"/>
              </a:defRPr>
            </a:pPr>
            <a:r>
              <a:t>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20000" y="3599999"/>
            <a:ext cx="3816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E262B"/>
                </a:solidFill>
                <a:latin typeface="Calibri"/>
              </a:defRPr>
            </a:pPr>
            <a:r>
              <a:t>Halaman 4 — Ketimpangan &amp; Kedalaman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20000" y="3880799"/>
            <a:ext cx="3816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E2A26"/>
                </a:solidFill>
                <a:latin typeface="Calibri"/>
              </a:defRPr>
            </a:pPr>
            <a:r>
              <a:t>Tren Gini total/kota/desa, tren P1/P2, kartu pangsa 40% terbawah.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03999" y="4427999"/>
            <a:ext cx="1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63D40"/>
                </a:solidFill>
                <a:latin typeface="Calibri"/>
              </a:defRPr>
            </a:pPr>
            <a: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20000" y="4427999"/>
            <a:ext cx="3816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E262B"/>
                </a:solidFill>
                <a:latin typeface="Calibri"/>
              </a:defRPr>
            </a:pPr>
            <a:r>
              <a:t>Aman dari jebakan klasik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20000" y="4708799"/>
            <a:ext cx="3816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E2A26"/>
                </a:solidFill>
                <a:latin typeface="Calibri"/>
              </a:defRPr>
            </a:pPr>
            <a:r>
              <a:t>Grain dipisah per tabel fakta, persen selalu dirata-rata (bukan dijumlah), dan setiap measure punya nilai verifikasi di measures_dax.md.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64000" y="6606000"/>
            <a:ext cx="122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E6258"/>
                </a:solidFill>
                <a:latin typeface="Calibri"/>
              </a:defRPr>
            </a:pPr>
            <a:r>
              <a:t>9 / 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2000" y="6606000"/>
            <a:ext cx="43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6258"/>
                </a:solidFill>
                <a:latin typeface="Calibri"/>
              </a:defRPr>
            </a:pPr>
            <a:r>
              <a:t>Kemiskinan &amp; Ketimpangan Indonesia 2026 • Data BPS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5E2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3999" y="576000"/>
            <a:ext cx="111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Kesimpulan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3999" y="1080000"/>
            <a:ext cx="6048000" cy="2160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3999" y="1332000"/>
            <a:ext cx="1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07B39"/>
                </a:solidFill>
                <a:latin typeface="Calibri"/>
              </a:defRPr>
            </a:pPr>
            <a:r>
              <a:t>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332000"/>
            <a:ext cx="106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50" b="1">
                <a:solidFill>
                  <a:srgbClr val="FFFFFF"/>
                </a:solidFill>
                <a:latin typeface="Calibri"/>
              </a:defRPr>
            </a:pPr>
            <a:r>
              <a:t>Rekor terendah tujuh tahun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1638000"/>
            <a:ext cx="1062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EFE4D8"/>
                </a:solidFill>
                <a:latin typeface="Calibri"/>
              </a:defRPr>
            </a:pPr>
            <a:r>
              <a:t>Kemiskinan mencapai 8,07% (22,93 juta jiwa) pada Maret 2026 — pulih penuh dari lonjakan pandemi 10,19% dan terus menurun sejak Maret 2023.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3999" y="2239200"/>
            <a:ext cx="1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07B39"/>
                </a:solidFill>
                <a:latin typeface="Calibri"/>
              </a:defRPr>
            </a:pPr>
            <a:r>
              <a:t>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2239200"/>
            <a:ext cx="106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50" b="1">
                <a:solidFill>
                  <a:srgbClr val="FFFFFF"/>
                </a:solidFill>
                <a:latin typeface="Calibri"/>
              </a:defRPr>
            </a:pPr>
            <a:r>
              <a:t>Kualitas penurunan juga membaik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000" y="2545200"/>
            <a:ext cx="1062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EFE4D8"/>
                </a:solidFill>
                <a:latin typeface="Calibri"/>
              </a:defRPr>
            </a:pPr>
            <a:r>
              <a:t>Garis kemiskinan naik 57,4%, indeks kedalaman turun 27,5% dari puncak pandemi, dan kesenjangan kota–desa menyempit ke 4,33 poin.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3999" y="3146400"/>
            <a:ext cx="1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07B39"/>
                </a:solidFill>
                <a:latin typeface="Calibri"/>
              </a:defRPr>
            </a:pPr>
            <a: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0000" y="3146400"/>
            <a:ext cx="106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50" b="1">
                <a:solidFill>
                  <a:srgbClr val="FFFFFF"/>
                </a:solidFill>
                <a:latin typeface="Calibri"/>
              </a:defRPr>
            </a:pPr>
            <a:r>
              <a:t>Tiga pekerjaan rumah tersisa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0000" y="3452400"/>
            <a:ext cx="1062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EFE4D8"/>
                </a:solidFill>
                <a:latin typeface="Calibri"/>
              </a:defRPr>
            </a:pPr>
            <a:r>
              <a:t>Klaster Papua (tertinggi Papua Tengah 30,41% vs Bali 3,44%), kedalaman desa yang memburuk di semester terakhir, dan Gini yang berbalik naik dari 0,363 ke 0,368.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3999" y="4053600"/>
            <a:ext cx="1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07B39"/>
                </a:solidFill>
                <a:latin typeface="Calibri"/>
              </a:defRPr>
            </a:pPr>
            <a:r>
              <a:t>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0000" y="4053600"/>
            <a:ext cx="106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50" b="1">
                <a:solidFill>
                  <a:srgbClr val="FFFFFF"/>
                </a:solidFill>
                <a:latin typeface="Calibri"/>
              </a:defRPr>
            </a:pPr>
            <a:r>
              <a:t>Metode &amp; keterbatasan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0000" y="4359600"/>
            <a:ext cx="1062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EFE4D8"/>
                </a:solidFill>
                <a:latin typeface="Calibri"/>
              </a:defRPr>
            </a:pPr>
            <a:r>
              <a:t>Seluruh angka dikompilasi dari BRS BPS dan dapat ditelusur di data/SOURCES.md. P1/P2 2019 tidak terverifikasi sehingga seri indeks mulai Mar 2020; perubahan provinsi dibatasi 32 provinsi sebanding.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3999" y="5976000"/>
            <a:ext cx="11160000" cy="1800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3999" y="6120000"/>
            <a:ext cx="1130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Terima kasih — BAGHIZ ASSHIDDIQIE ARASYA • Data Analyst</a:t>
            </a:r>
          </a:p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Repo: github.com/baghizash/kemiskinan-indonesia-2026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